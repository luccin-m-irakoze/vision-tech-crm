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Technologies (VTC) is a real Rwandan integrator that installs and supports CCTV, access control, fire detection, networking and data-centre infrastructure for mission-critical clients. They have grown from a single office to four countries. Their challenge today is not technical delivery — it is keeping track of who their customers are, what is being sold to them, and how well they are being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VTC currently runs all of this through e-mail, Excel and WhatsApp. When a sales rep leaves, his pipeline goes with him. Support tickets raised by phone are sometimes never logged, so SLAs are missed and the company's reputation suffers. Reports take days to compile. A CRM solves all five problems by being the single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is the proof that the project works. Objectives O1 to O8 each map to a concrete requirement from Phase 1 — for example O3 verifies that the sales pipeline only allows legal stage transitions. The scope is honest: we are testing the things we built and explicitly excluding integrations we did not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show the test plan is not just paper, I implemented JUnit 5 unit tests and two Spring Boot integration test classes that boot the full ApplicationContext against an in-memory H2 database. The integration tests log in as the seeded admin to obtain a JWT and then drive every controller through MockMvc.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4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59E0B"/>
          </a:solidFill>
          <a:ln w="12700">
            <a:solidFill>
              <a:srgbClr val="F59E0B"/>
            </a:solidFill>
            <a:prstDash val="solid"/>
          </a:ln>
        </p:spPr>
      </p:sp>
      <p:sp>
        <p:nvSpPr>
          <p:cNvPr id="3" name="Text 1"/>
          <p:cNvSpPr/>
          <p:nvPr/>
        </p:nvSpPr>
        <p:spPr>
          <a:xfrm>
            <a:off x="640080" y="457200"/>
            <a:ext cx="7315200" cy="365760"/>
          </a:xfrm>
          <a:prstGeom prst="rect">
            <a:avLst/>
          </a:prstGeom>
          <a:noFill/>
          <a:ln/>
        </p:spPr>
        <p:txBody>
          <a:bodyPr wrap="square" lIns="0" tIns="0" rIns="0" bIns="0" rtlCol="0" anchor="ctr"/>
          <a:lstStyle/>
          <a:p>
            <a:pPr indent="0" marL="0">
              <a:buNone/>
            </a:pPr>
            <a:r>
              <a:rPr lang="en-US" sz="1400" b="1" spc="600" kern="0" dirty="0">
                <a:solidFill>
                  <a:srgbClr val="CADCFC"/>
                </a:solidFill>
                <a:latin typeface="Calibri" pitchFamily="34" charset="0"/>
                <a:ea typeface="Calibri" pitchFamily="34" charset="-122"/>
                <a:cs typeface="Calibri" pitchFamily="34" charset="-120"/>
              </a:rPr>
              <a:t>VTC · CRM</a:t>
            </a:r>
            <a:endParaRPr lang="en-US" sz="1400" dirty="0"/>
          </a:p>
        </p:txBody>
      </p:sp>
      <p:sp>
        <p:nvSpPr>
          <p:cNvPr id="4" name="Text 2"/>
          <p:cNvSpPr/>
          <p:nvPr/>
        </p:nvSpPr>
        <p:spPr>
          <a:xfrm>
            <a:off x="640080" y="1280160"/>
            <a:ext cx="7863840" cy="12801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Vision Technologies CRM</a:t>
            </a:r>
            <a:endParaRPr lang="en-US" sz="4200" dirty="0"/>
          </a:p>
        </p:txBody>
      </p:sp>
      <p:sp>
        <p:nvSpPr>
          <p:cNvPr id="5" name="Text 3"/>
          <p:cNvSpPr/>
          <p:nvPr/>
        </p:nvSpPr>
        <p:spPr>
          <a:xfrm>
            <a:off x="640080" y="2606040"/>
            <a:ext cx="786384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Final Exam Project — Live Defense (Phase 1 + Phase 4)</a:t>
            </a:r>
            <a:endParaRPr lang="en-US" sz="1800" dirty="0"/>
          </a:p>
        </p:txBody>
      </p:sp>
      <p:sp>
        <p:nvSpPr>
          <p:cNvPr id="6" name="Shape 4"/>
          <p:cNvSpPr/>
          <p:nvPr/>
        </p:nvSpPr>
        <p:spPr>
          <a:xfrm>
            <a:off x="640080" y="3291840"/>
            <a:ext cx="1371600" cy="36576"/>
          </a:xfrm>
          <a:prstGeom prst="rect">
            <a:avLst/>
          </a:prstGeom>
          <a:solidFill>
            <a:srgbClr val="F59E0B"/>
          </a:solidFill>
          <a:ln w="12700">
            <a:solidFill>
              <a:srgbClr val="F59E0B"/>
            </a:solidFill>
            <a:prstDash val="solid"/>
          </a:ln>
        </p:spPr>
      </p:sp>
      <p:sp>
        <p:nvSpPr>
          <p:cNvPr id="7" name="Text 5"/>
          <p:cNvSpPr/>
          <p:nvPr/>
        </p:nvSpPr>
        <p:spPr>
          <a:xfrm>
            <a:off x="640080" y="3474720"/>
            <a:ext cx="7863840" cy="137160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Author:    </a:t>
            </a:r>
            <a:pPr indent="0" marL="0">
              <a:buNone/>
            </a:pPr>
            <a:r>
              <a:rPr lang="en-US" sz="1400" dirty="0">
                <a:solidFill>
                  <a:srgbClr val="FFFFFF"/>
                </a:solidFill>
                <a:latin typeface="Calibri" pitchFamily="34" charset="0"/>
                <a:ea typeface="Calibri" pitchFamily="34" charset="-122"/>
                <a:cs typeface="Calibri" pitchFamily="34" charset="-120"/>
              </a:rPr>
              <a:t>MUNEZERO IRAKOZE Luccin · Student ID 25815</a:t>
            </a:r>
            <a:endParaRPr lang="en-US" sz="1400" dirty="0"/>
          </a:p>
          <a:p>
            <a:pPr indent="0" marL="0">
              <a:buNone/>
            </a:pPr>
            <a:r>
              <a:rPr lang="en-US" sz="1400" b="1" dirty="0">
                <a:solidFill>
                  <a:srgbClr val="CADCFC"/>
                </a:solidFill>
                <a:latin typeface="Calibri" pitchFamily="34" charset="0"/>
                <a:ea typeface="Calibri" pitchFamily="34" charset="-122"/>
                <a:cs typeface="Calibri" pitchFamily="34" charset="-120"/>
              </a:rPr>
              <a:t>Course:    </a:t>
            </a:r>
            <a:pPr indent="0" marL="0">
              <a:buNone/>
            </a:pPr>
            <a:r>
              <a:rPr lang="en-US" sz="1400" dirty="0">
                <a:solidFill>
                  <a:srgbClr val="FFFFFF"/>
                </a:solidFill>
                <a:latin typeface="Calibri" pitchFamily="34" charset="0"/>
                <a:ea typeface="Calibri" pitchFamily="34" charset="-122"/>
                <a:cs typeface="Calibri" pitchFamily="34" charset="-120"/>
              </a:rPr>
              <a:t>SENG 8240 — Best Programming Practices and Design Patterns</a:t>
            </a:r>
            <a:endParaRPr lang="en-US" sz="1400" dirty="0"/>
          </a:p>
          <a:p>
            <a:pPr indent="0" marL="0">
              <a:buNone/>
            </a:pPr>
            <a:r>
              <a:rPr lang="en-US" sz="1400" b="1" dirty="0">
                <a:solidFill>
                  <a:srgbClr val="CADCFC"/>
                </a:solidFill>
                <a:latin typeface="Calibri" pitchFamily="34" charset="0"/>
                <a:ea typeface="Calibri" pitchFamily="34" charset="-122"/>
                <a:cs typeface="Calibri" pitchFamily="34" charset="-120"/>
              </a:rPr>
              <a:t>Instructor: </a:t>
            </a:r>
            <a:pPr indent="0" marL="0">
              <a:buNone/>
            </a:pPr>
            <a:r>
              <a:rPr lang="en-US" sz="1400" dirty="0">
                <a:solidFill>
                  <a:srgbClr val="FFFFFF"/>
                </a:solidFill>
                <a:latin typeface="Calibri" pitchFamily="34" charset="0"/>
                <a:ea typeface="Calibri" pitchFamily="34" charset="-122"/>
                <a:cs typeface="Calibri" pitchFamily="34" charset="-120"/>
              </a:rPr>
              <a:t>Rutarindwa Jean Pierre</a:t>
            </a:r>
            <a:endParaRPr lang="en-US" sz="1400" dirty="0"/>
          </a:p>
          <a:p>
            <a:pPr indent="0" marL="0">
              <a:buNone/>
            </a:pPr>
            <a:r>
              <a:rPr lang="en-US" sz="1400" b="1" dirty="0">
                <a:solidFill>
                  <a:srgbClr val="CADCFC"/>
                </a:solidFill>
                <a:latin typeface="Calibri" pitchFamily="34" charset="0"/>
                <a:ea typeface="Calibri" pitchFamily="34" charset="-122"/>
                <a:cs typeface="Calibri" pitchFamily="34" charset="-120"/>
              </a:rPr>
              <a:t>Period:    </a:t>
            </a:r>
            <a:pPr indent="0" marL="0">
              <a:buNone/>
            </a:pPr>
            <a:r>
              <a:rPr lang="en-US" sz="1400" dirty="0">
                <a:solidFill>
                  <a:srgbClr val="FFFFFF"/>
                </a:solidFill>
                <a:latin typeface="Calibri" pitchFamily="34" charset="0"/>
                <a:ea typeface="Calibri" pitchFamily="34" charset="-122"/>
                <a:cs typeface="Calibri" pitchFamily="34" charset="-120"/>
              </a:rPr>
              <a:t>Academic Year 2025 / 2026, Semester II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CASE STUDY</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Vision Technologies Company Ltd</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sp>
        <p:nvSpPr>
          <p:cNvPr id="6" name="Text 4"/>
          <p:cNvSpPr/>
          <p:nvPr/>
        </p:nvSpPr>
        <p:spPr>
          <a:xfrm>
            <a:off x="548640" y="1280160"/>
            <a:ext cx="8229600" cy="173736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East-African integrator — Security Systems, IT &amp; Telecom, ICT, Low-Voltage</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Data-centre design, build and support across Rwanda, Kenya, Uganda, Burundi</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Customers: banks, telecoms, hospitals, manufacturing and government</a:t>
            </a:r>
            <a:endParaRPr lang="en-US" sz="1600" dirty="0"/>
          </a:p>
        </p:txBody>
      </p:sp>
      <p:sp>
        <p:nvSpPr>
          <p:cNvPr id="7" name="Shape 5"/>
          <p:cNvSpPr/>
          <p:nvPr/>
        </p:nvSpPr>
        <p:spPr>
          <a:xfrm>
            <a:off x="411480" y="3200400"/>
            <a:ext cx="8321040" cy="1554480"/>
          </a:xfrm>
          <a:prstGeom prst="rect">
            <a:avLst/>
          </a:prstGeom>
          <a:solidFill>
            <a:srgbClr val="EAF1FF"/>
          </a:solidFill>
          <a:ln w="12700">
            <a:solidFill>
              <a:srgbClr val="CADCFC"/>
            </a:solidFill>
            <a:prstDash val="solid"/>
          </a:ln>
        </p:spPr>
      </p:sp>
      <p:sp>
        <p:nvSpPr>
          <p:cNvPr id="8" name="Shape 6"/>
          <p:cNvSpPr/>
          <p:nvPr/>
        </p:nvSpPr>
        <p:spPr>
          <a:xfrm>
            <a:off x="411480" y="3200400"/>
            <a:ext cx="91440" cy="1554480"/>
          </a:xfrm>
          <a:prstGeom prst="rect">
            <a:avLst/>
          </a:prstGeom>
          <a:solidFill>
            <a:srgbClr val="F59E0B"/>
          </a:solidFill>
          <a:ln w="12700">
            <a:solidFill>
              <a:srgbClr val="F59E0B"/>
            </a:solidFill>
            <a:prstDash val="solid"/>
          </a:ln>
        </p:spPr>
      </p:sp>
      <p:sp>
        <p:nvSpPr>
          <p:cNvPr id="9" name="Text 7"/>
          <p:cNvSpPr/>
          <p:nvPr/>
        </p:nvSpPr>
        <p:spPr>
          <a:xfrm>
            <a:off x="640080" y="3246120"/>
            <a:ext cx="795528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SPEAKER NOTES</a:t>
            </a:r>
            <a:endParaRPr lang="en-US" sz="1000" dirty="0"/>
          </a:p>
        </p:txBody>
      </p:sp>
      <p:sp>
        <p:nvSpPr>
          <p:cNvPr id="10" name="Text 8"/>
          <p:cNvSpPr/>
          <p:nvPr/>
        </p:nvSpPr>
        <p:spPr>
          <a:xfrm>
            <a:off x="640080" y="3520440"/>
            <a:ext cx="7955280" cy="11887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Vision Technologies (VTC) is a real Rwandan integrator that installs and supports CCTV, access control, fire detection, networking and data-centre infrastructure for mission-critical clients. They have grown from a single office to four countries. Their challenge today is not technical delivery — it is keeping track of who their customers are, what is being sold to them, and how well they are being supported.</a:t>
            </a:r>
            <a:endParaRPr lang="en-US" sz="1200" dirty="0"/>
          </a:p>
        </p:txBody>
      </p:sp>
      <p:sp>
        <p:nvSpPr>
          <p:cNvPr id="12" name="Shape 9"/>
          <p:cNvSpPr/>
          <p:nvPr/>
        </p:nvSpPr>
        <p:spPr>
          <a:xfrm>
            <a:off x="0" y="4892040"/>
            <a:ext cx="9144000" cy="251460"/>
          </a:xfrm>
          <a:prstGeom prst="rect">
            <a:avLst/>
          </a:prstGeom>
          <a:solidFill>
            <a:srgbClr val="1E2761"/>
          </a:solidFill>
          <a:ln w="12700">
            <a:solidFill>
              <a:srgbClr val="1E2761"/>
            </a:solidFill>
            <a:prstDash val="solid"/>
          </a:ln>
        </p:spPr>
      </p:sp>
      <p:sp>
        <p:nvSpPr>
          <p:cNvPr id="13" name="Text 10"/>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4" name="Text 11"/>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§2 FUNCTIONAL FLOW</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Functional Diagram of VTC</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functional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Marketing &amp; sales → pipeline → customer onboarding → support → interactions log → dashboard.</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§3 PROBLEM STATEMENT</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The Five Pain Points VTC Faces Today</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sp>
        <p:nvSpPr>
          <p:cNvPr id="6" name="Text 4"/>
          <p:cNvSpPr/>
          <p:nvPr/>
        </p:nvSpPr>
        <p:spPr>
          <a:xfrm>
            <a:off x="548640" y="1280160"/>
            <a:ext cx="8229600" cy="173736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Fragmented customer data — e-mail, Excel, WhatsApp — no single source of truth</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Lost leads &amp; no pipeline visibility — managers cannot forecast revenue</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Unstructured support workflow &amp; SLA breaches on mission-critical accounts</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No interaction history per customer — new staff have no context</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Manual, late, inconsistent reporting — Excel-stitched, hard to audit</a:t>
            </a:r>
            <a:endParaRPr lang="en-US" sz="1600" dirty="0"/>
          </a:p>
        </p:txBody>
      </p:sp>
      <p:sp>
        <p:nvSpPr>
          <p:cNvPr id="7" name="Shape 5"/>
          <p:cNvSpPr/>
          <p:nvPr/>
        </p:nvSpPr>
        <p:spPr>
          <a:xfrm>
            <a:off x="411480" y="3200400"/>
            <a:ext cx="8321040" cy="1554480"/>
          </a:xfrm>
          <a:prstGeom prst="rect">
            <a:avLst/>
          </a:prstGeom>
          <a:solidFill>
            <a:srgbClr val="EAF1FF"/>
          </a:solidFill>
          <a:ln w="12700">
            <a:solidFill>
              <a:srgbClr val="CADCFC"/>
            </a:solidFill>
            <a:prstDash val="solid"/>
          </a:ln>
        </p:spPr>
      </p:sp>
      <p:sp>
        <p:nvSpPr>
          <p:cNvPr id="8" name="Shape 6"/>
          <p:cNvSpPr/>
          <p:nvPr/>
        </p:nvSpPr>
        <p:spPr>
          <a:xfrm>
            <a:off x="411480" y="3200400"/>
            <a:ext cx="91440" cy="1554480"/>
          </a:xfrm>
          <a:prstGeom prst="rect">
            <a:avLst/>
          </a:prstGeom>
          <a:solidFill>
            <a:srgbClr val="F59E0B"/>
          </a:solidFill>
          <a:ln w="12700">
            <a:solidFill>
              <a:srgbClr val="F59E0B"/>
            </a:solidFill>
            <a:prstDash val="solid"/>
          </a:ln>
        </p:spPr>
      </p:sp>
      <p:sp>
        <p:nvSpPr>
          <p:cNvPr id="9" name="Text 7"/>
          <p:cNvSpPr/>
          <p:nvPr/>
        </p:nvSpPr>
        <p:spPr>
          <a:xfrm>
            <a:off x="640080" y="3246120"/>
            <a:ext cx="795528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SPEAKER NOTES</a:t>
            </a:r>
            <a:endParaRPr lang="en-US" sz="1000" dirty="0"/>
          </a:p>
        </p:txBody>
      </p:sp>
      <p:sp>
        <p:nvSpPr>
          <p:cNvPr id="10" name="Text 8"/>
          <p:cNvSpPr/>
          <p:nvPr/>
        </p:nvSpPr>
        <p:spPr>
          <a:xfrm>
            <a:off x="640080" y="3520440"/>
            <a:ext cx="7955280" cy="11887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VTC currently runs all of this through e-mail, Excel and WhatsApp. When a sales rep leaves, his pipeline goes with him. Support tickets raised by phone are sometimes never logged, so SLAs are missed and the company's reputation suffers. Reports take days to compile. A CRM solves all five problems by being the single source of truth.</a:t>
            </a:r>
            <a:endParaRPr lang="en-US" sz="1200" dirty="0"/>
          </a:p>
        </p:txBody>
      </p:sp>
      <p:sp>
        <p:nvSpPr>
          <p:cNvPr id="12" name="Shape 9"/>
          <p:cNvSpPr/>
          <p:nvPr/>
        </p:nvSpPr>
        <p:spPr>
          <a:xfrm>
            <a:off x="0" y="4892040"/>
            <a:ext cx="9144000" cy="251460"/>
          </a:xfrm>
          <a:prstGeom prst="rect">
            <a:avLst/>
          </a:prstGeom>
          <a:solidFill>
            <a:srgbClr val="1E2761"/>
          </a:solidFill>
          <a:ln w="12700">
            <a:solidFill>
              <a:srgbClr val="1E2761"/>
            </a:solidFill>
            <a:prstDash val="solid"/>
          </a:ln>
        </p:spPr>
      </p:sp>
      <p:sp>
        <p:nvSpPr>
          <p:cNvPr id="13" name="Text 10"/>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4" name="Text 11"/>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§4.1 USE CASE</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Use Case Diagram — Actors &amp; System Boundary</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usecase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Admin · Sales Rep · Support Engineer · Manager · Customer — each role sees only what it needs.</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§4.2 CLASS MODEL</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Class Diagram — Entities &amp; Enumerations</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class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Six entities, five enumerations — Customer is the aggregate root for Leads, Interactions and Tickets.</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§4.3 ACTIVITY</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Activity Diagram — Lead Capture → Customer Conversion</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activity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The diamond decision points map directly to Kanban drag-and-drop actions in the live app.</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§4.4 SEQUENCE</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Sequence Diagram — Log Call &amp; Update Lead Stage</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sequence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Sales rep → Vue UI → REST API → Service → MySQL — POST /api/interactions then PUT /api/leads/{id}/stage.</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§4.5 DEPLOYMENT</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Component Diagram — Three Docker Containers</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pic>
        <p:nvPicPr>
          <p:cNvPr id="6" name="Image 0" descr="/sessions/keen-brave-curie/mnt/outputs/pptx-build/png/crm_component_diagram.png">    </p:cNvPr>
          <p:cNvPicPr>
            <a:picLocks noChangeAspect="1"/>
          </p:cNvPicPr>
          <p:nvPr/>
        </p:nvPicPr>
        <p:blipFill>
          <a:blip r:embed="rId1"/>
          <a:srcRect l="0" r="0" t="0" b="0"/>
          <a:stretch/>
        </p:blipFill>
        <p:spPr>
          <a:xfrm>
            <a:off x="548640" y="1280160"/>
            <a:ext cx="8046720" cy="3291840"/>
          </a:xfrm>
          <a:prstGeom prst="rect">
            <a:avLst/>
          </a:prstGeom>
        </p:spPr>
      </p:pic>
      <p:sp>
        <p:nvSpPr>
          <p:cNvPr id="7" name="Text 4"/>
          <p:cNvSpPr/>
          <p:nvPr/>
        </p:nvSpPr>
        <p:spPr>
          <a:xfrm>
            <a:off x="548640" y="4617720"/>
            <a:ext cx="804672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Vue/NGINX :80  →  Spring Boot :8080  →  MySQL :3306  ·  one private network, one named volume.</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4 · §1 + §2</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Test Plan — Objectives &amp; Scope</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sp>
        <p:nvSpPr>
          <p:cNvPr id="6" name="Text 4"/>
          <p:cNvSpPr/>
          <p:nvPr/>
        </p:nvSpPr>
        <p:spPr>
          <a:xfrm>
            <a:off x="548640" y="1280160"/>
            <a:ext cx="8229600" cy="173736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Eight objectives (O1–O8) tied 1-to-1 to system requirements</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In scope: every REST endpoint, every page, JWT, CORS, Docker health</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Out of scope: SMS/e-mail gateway, multi-tenancy, full pen-testing</a:t>
            </a:r>
            <a:endParaRPr lang="en-US" sz="1600" dirty="0"/>
          </a:p>
        </p:txBody>
      </p:sp>
      <p:sp>
        <p:nvSpPr>
          <p:cNvPr id="7" name="Shape 5"/>
          <p:cNvSpPr/>
          <p:nvPr/>
        </p:nvSpPr>
        <p:spPr>
          <a:xfrm>
            <a:off x="411480" y="3200400"/>
            <a:ext cx="8321040" cy="1554480"/>
          </a:xfrm>
          <a:prstGeom prst="rect">
            <a:avLst/>
          </a:prstGeom>
          <a:solidFill>
            <a:srgbClr val="EAF1FF"/>
          </a:solidFill>
          <a:ln w="12700">
            <a:solidFill>
              <a:srgbClr val="CADCFC"/>
            </a:solidFill>
            <a:prstDash val="solid"/>
          </a:ln>
        </p:spPr>
      </p:sp>
      <p:sp>
        <p:nvSpPr>
          <p:cNvPr id="8" name="Shape 6"/>
          <p:cNvSpPr/>
          <p:nvPr/>
        </p:nvSpPr>
        <p:spPr>
          <a:xfrm>
            <a:off x="411480" y="3200400"/>
            <a:ext cx="91440" cy="1554480"/>
          </a:xfrm>
          <a:prstGeom prst="rect">
            <a:avLst/>
          </a:prstGeom>
          <a:solidFill>
            <a:srgbClr val="F59E0B"/>
          </a:solidFill>
          <a:ln w="12700">
            <a:solidFill>
              <a:srgbClr val="F59E0B"/>
            </a:solidFill>
            <a:prstDash val="solid"/>
          </a:ln>
        </p:spPr>
      </p:sp>
      <p:sp>
        <p:nvSpPr>
          <p:cNvPr id="9" name="Text 7"/>
          <p:cNvSpPr/>
          <p:nvPr/>
        </p:nvSpPr>
        <p:spPr>
          <a:xfrm>
            <a:off x="640080" y="3246120"/>
            <a:ext cx="795528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SPEAKER NOTES</a:t>
            </a:r>
            <a:endParaRPr lang="en-US" sz="1000" dirty="0"/>
          </a:p>
        </p:txBody>
      </p:sp>
      <p:sp>
        <p:nvSpPr>
          <p:cNvPr id="10" name="Text 8"/>
          <p:cNvSpPr/>
          <p:nvPr/>
        </p:nvSpPr>
        <p:spPr>
          <a:xfrm>
            <a:off x="640080" y="3520440"/>
            <a:ext cx="7955280" cy="11887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Phase 4 is the proof that the project works. Objectives O1 to O8 each map to a concrete requirement from Phase 1 — for example O3 verifies that the sales pipeline only allows legal stage transitions. The scope is honest: we are testing the things we built and explicitly excluding integrations we did not implement.</a:t>
            </a:r>
            <a:endParaRPr lang="en-US" sz="1200" dirty="0"/>
          </a:p>
        </p:txBody>
      </p:sp>
      <p:sp>
        <p:nvSpPr>
          <p:cNvPr id="12" name="Shape 9"/>
          <p:cNvSpPr/>
          <p:nvPr/>
        </p:nvSpPr>
        <p:spPr>
          <a:xfrm>
            <a:off x="0" y="4892040"/>
            <a:ext cx="9144000" cy="251460"/>
          </a:xfrm>
          <a:prstGeom prst="rect">
            <a:avLst/>
          </a:prstGeom>
          <a:solidFill>
            <a:srgbClr val="1E2761"/>
          </a:solidFill>
          <a:ln w="12700">
            <a:solidFill>
              <a:srgbClr val="1E2761"/>
            </a:solidFill>
            <a:prstDash val="solid"/>
          </a:ln>
        </p:spPr>
      </p:sp>
      <p:sp>
        <p:nvSpPr>
          <p:cNvPr id="13" name="Text 10"/>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4" name="Text 11"/>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4 · §3 + §4</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Test Types — A Testing Pyramid</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sp>
        <p:nvSpPr>
          <p:cNvPr id="6" name="Shape 4"/>
          <p:cNvSpPr/>
          <p:nvPr/>
        </p:nvSpPr>
        <p:spPr>
          <a:xfrm>
            <a:off x="502920" y="1371600"/>
            <a:ext cx="2636520" cy="3200400"/>
          </a:xfrm>
          <a:prstGeom prst="rect">
            <a:avLst/>
          </a:prstGeom>
          <a:solidFill>
            <a:srgbClr val="EAF1FF"/>
          </a:solidFill>
          <a:ln w="12700">
            <a:solidFill>
              <a:srgbClr val="CADCFC"/>
            </a:solidFill>
            <a:prstDash val="solid"/>
          </a:ln>
        </p:spPr>
      </p:sp>
      <p:sp>
        <p:nvSpPr>
          <p:cNvPr id="7" name="Shape 5"/>
          <p:cNvSpPr/>
          <p:nvPr/>
        </p:nvSpPr>
        <p:spPr>
          <a:xfrm>
            <a:off x="502920" y="1371600"/>
            <a:ext cx="2636520" cy="91440"/>
          </a:xfrm>
          <a:prstGeom prst="rect">
            <a:avLst/>
          </a:prstGeom>
          <a:solidFill>
            <a:srgbClr val="F59E0B"/>
          </a:solidFill>
          <a:ln w="12700">
            <a:solidFill>
              <a:srgbClr val="F59E0B"/>
            </a:solidFill>
            <a:prstDash val="solid"/>
          </a:ln>
        </p:spPr>
      </p:sp>
      <p:sp>
        <p:nvSpPr>
          <p:cNvPr id="8" name="Text 6"/>
          <p:cNvSpPr/>
          <p:nvPr/>
        </p:nvSpPr>
        <p:spPr>
          <a:xfrm>
            <a:off x="640080" y="1554480"/>
            <a:ext cx="2362200" cy="36576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Unit + Integration</a:t>
            </a:r>
            <a:endParaRPr lang="en-US" sz="1500" dirty="0"/>
          </a:p>
        </p:txBody>
      </p:sp>
      <p:sp>
        <p:nvSpPr>
          <p:cNvPr id="9" name="Text 7"/>
          <p:cNvSpPr/>
          <p:nvPr/>
        </p:nvSpPr>
        <p:spPr>
          <a:xfrm>
            <a:off x="640080" y="1965960"/>
            <a:ext cx="236220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JUnit 5 + Mockito (services)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Spring Boot Test + MockMvc + H2</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Fast feedback inside the build</a:t>
            </a:r>
            <a:endParaRPr lang="en-US" sz="1100" dirty="0"/>
          </a:p>
        </p:txBody>
      </p:sp>
      <p:sp>
        <p:nvSpPr>
          <p:cNvPr id="10" name="Shape 8"/>
          <p:cNvSpPr/>
          <p:nvPr/>
        </p:nvSpPr>
        <p:spPr>
          <a:xfrm>
            <a:off x="3322320" y="1371600"/>
            <a:ext cx="2636520" cy="3200400"/>
          </a:xfrm>
          <a:prstGeom prst="rect">
            <a:avLst/>
          </a:prstGeom>
          <a:solidFill>
            <a:srgbClr val="EAF1FF"/>
          </a:solidFill>
          <a:ln w="12700">
            <a:solidFill>
              <a:srgbClr val="CADCFC"/>
            </a:solidFill>
            <a:prstDash val="solid"/>
          </a:ln>
        </p:spPr>
      </p:sp>
      <p:sp>
        <p:nvSpPr>
          <p:cNvPr id="11" name="Shape 9"/>
          <p:cNvSpPr/>
          <p:nvPr/>
        </p:nvSpPr>
        <p:spPr>
          <a:xfrm>
            <a:off x="3322320" y="1371600"/>
            <a:ext cx="2636520" cy="91440"/>
          </a:xfrm>
          <a:prstGeom prst="rect">
            <a:avLst/>
          </a:prstGeom>
          <a:solidFill>
            <a:srgbClr val="F59E0B"/>
          </a:solidFill>
          <a:ln w="12700">
            <a:solidFill>
              <a:srgbClr val="F59E0B"/>
            </a:solidFill>
            <a:prstDash val="solid"/>
          </a:ln>
        </p:spPr>
      </p:sp>
      <p:sp>
        <p:nvSpPr>
          <p:cNvPr id="12" name="Text 10"/>
          <p:cNvSpPr/>
          <p:nvPr/>
        </p:nvSpPr>
        <p:spPr>
          <a:xfrm>
            <a:off x="3459480" y="1554480"/>
            <a:ext cx="2362200" cy="36576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End-to-End</a:t>
            </a:r>
            <a:endParaRPr lang="en-US" sz="1500" dirty="0"/>
          </a:p>
        </p:txBody>
      </p:sp>
      <p:sp>
        <p:nvSpPr>
          <p:cNvPr id="13" name="Text 11"/>
          <p:cNvSpPr/>
          <p:nvPr/>
        </p:nvSpPr>
        <p:spPr>
          <a:xfrm>
            <a:off x="3459480" y="1965960"/>
            <a:ext cx="236220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Manual checklist of 20 cases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Cypress smoke flows (optional)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Runs against dockerised stack</a:t>
            </a:r>
            <a:endParaRPr lang="en-US" sz="1100" dirty="0"/>
          </a:p>
        </p:txBody>
      </p:sp>
      <p:sp>
        <p:nvSpPr>
          <p:cNvPr id="14" name="Shape 12"/>
          <p:cNvSpPr/>
          <p:nvPr/>
        </p:nvSpPr>
        <p:spPr>
          <a:xfrm>
            <a:off x="6141720" y="1371600"/>
            <a:ext cx="2636520" cy="3200400"/>
          </a:xfrm>
          <a:prstGeom prst="rect">
            <a:avLst/>
          </a:prstGeom>
          <a:solidFill>
            <a:srgbClr val="EAF1FF"/>
          </a:solidFill>
          <a:ln w="12700">
            <a:solidFill>
              <a:srgbClr val="CADCFC"/>
            </a:solidFill>
            <a:prstDash val="solid"/>
          </a:ln>
        </p:spPr>
      </p:sp>
      <p:sp>
        <p:nvSpPr>
          <p:cNvPr id="15" name="Shape 13"/>
          <p:cNvSpPr/>
          <p:nvPr/>
        </p:nvSpPr>
        <p:spPr>
          <a:xfrm>
            <a:off x="6141720" y="1371600"/>
            <a:ext cx="2636520" cy="91440"/>
          </a:xfrm>
          <a:prstGeom prst="rect">
            <a:avLst/>
          </a:prstGeom>
          <a:solidFill>
            <a:srgbClr val="F59E0B"/>
          </a:solidFill>
          <a:ln w="12700">
            <a:solidFill>
              <a:srgbClr val="F59E0B"/>
            </a:solidFill>
            <a:prstDash val="solid"/>
          </a:ln>
        </p:spPr>
      </p:sp>
      <p:sp>
        <p:nvSpPr>
          <p:cNvPr id="16" name="Text 14"/>
          <p:cNvSpPr/>
          <p:nvPr/>
        </p:nvSpPr>
        <p:spPr>
          <a:xfrm>
            <a:off x="6278880" y="1554480"/>
            <a:ext cx="2362200" cy="36576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Performance + Security</a:t>
            </a:r>
            <a:endParaRPr lang="en-US" sz="1500" dirty="0"/>
          </a:p>
        </p:txBody>
      </p:sp>
      <p:sp>
        <p:nvSpPr>
          <p:cNvPr id="17" name="Text 15"/>
          <p:cNvSpPr/>
          <p:nvPr/>
        </p:nvSpPr>
        <p:spPr>
          <a:xfrm>
            <a:off x="6278880" y="1965960"/>
            <a:ext cx="236220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JMeter, 50 concurrent users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JWT expiry, CORS, 401/403</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GitHub Issues for defects</a:t>
            </a:r>
            <a:endParaRPr lang="en-US" sz="1100" dirty="0"/>
          </a:p>
        </p:txBody>
      </p:sp>
      <p:sp>
        <p:nvSpPr>
          <p:cNvPr id="18" name="Shape 16"/>
          <p:cNvSpPr/>
          <p:nvPr/>
        </p:nvSpPr>
        <p:spPr>
          <a:xfrm>
            <a:off x="0" y="4892040"/>
            <a:ext cx="9144000" cy="251460"/>
          </a:xfrm>
          <a:prstGeom prst="rect">
            <a:avLst/>
          </a:prstGeom>
          <a:solidFill>
            <a:srgbClr val="1E2761"/>
          </a:solidFill>
          <a:ln w="12700">
            <a:solidFill>
              <a:srgbClr val="1E2761"/>
            </a:solidFill>
            <a:prstDash val="solid"/>
          </a:ln>
        </p:spPr>
      </p:sp>
      <p:sp>
        <p:nvSpPr>
          <p:cNvPr id="19" name="Text 17"/>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20" name="Text 18"/>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4 · §8 (EXCERPT)</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Sample Test Cases (3 of 20)</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75320" cy="914400"/>
        </p:xfrm>
        <a:graphic>
          <a:graphicData uri="http://schemas.openxmlformats.org/drawingml/2006/table">
            <a:tbl>
              <a:tblPr/>
              <a:tblGrid>
                <a:gridCol w="2068830"/>
                <a:gridCol w="2068830"/>
                <a:gridCol w="2068830"/>
                <a:gridCol w="206883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r>
              <a:tr h="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TC-01</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Login (valid)</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Login with seeded admin</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JWT issued; redirect to /dashboard</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r>
              <a:tr h="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TC-08</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Move lead stage</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Drag card New → Qualified</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Stage updated in DB; PUT 200</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r>
              <a:tr h="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TC-12</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Escalate ticket</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Click Escalate on a ticket</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Status ESCALATED; priority bumped</a:t>
                      </a:r>
                      <a:endParaRPr lang="en-US" sz="1000" dirty="0">
                        <a:latin typeface="Calibri" charset="0"/>
                        <a:ea typeface="Calibri" charset="0"/>
                        <a:cs typeface="Calibri" charset="0"/>
                      </a:endParaRPr>
                    </a:p>
                  </a:txBody>
                  <a:tcPr marL="91440" marR="91440" marT="45720" marB="45720" anchor="t">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AF1FF"/>
                    </a:solidFill>
                  </a:tcPr>
                </a:tc>
              </a:tr>
            </a:tbl>
          </a:graphicData>
        </a:graphic>
      </p:graphicFrame>
      <p:sp>
        <p:nvSpPr>
          <p:cNvPr id="7" name="Text 4"/>
          <p:cNvSpPr/>
          <p:nvPr/>
        </p:nvSpPr>
        <p:spPr>
          <a:xfrm>
            <a:off x="502920" y="4617720"/>
            <a:ext cx="8275320" cy="274320"/>
          </a:xfrm>
          <a:prstGeom prst="rect">
            <a:avLst/>
          </a:prstGeom>
          <a:noFill/>
          <a:ln/>
        </p:spPr>
        <p:txBody>
          <a:bodyPr wrap="square" lIns="0" tIns="0" rIns="0" bIns="0" rtlCol="0" anchor="ctr"/>
          <a:lstStyle/>
          <a:p>
            <a:pPr indent="0" marL="0">
              <a:buNone/>
            </a:pPr>
            <a:r>
              <a:rPr lang="en-US" sz="1000" i="1" dirty="0">
                <a:solidFill>
                  <a:srgbClr val="475569"/>
                </a:solidFill>
              </a:rPr>
              <a:t>Total of 20 cases covering authentication, CRUD, lead lifecycle, ticket lifecycle, reporting, robustness and Docker health.</a:t>
            </a:r>
            <a:endParaRPr lang="en-US" sz="1000" dirty="0"/>
          </a:p>
        </p:txBody>
      </p:sp>
      <p:sp>
        <p:nvSpPr>
          <p:cNvPr id="8" name="Shape 5"/>
          <p:cNvSpPr/>
          <p:nvPr/>
        </p:nvSpPr>
        <p:spPr>
          <a:xfrm>
            <a:off x="0" y="4892040"/>
            <a:ext cx="9144000" cy="251460"/>
          </a:xfrm>
          <a:prstGeom prst="rect">
            <a:avLst/>
          </a:prstGeom>
          <a:solidFill>
            <a:srgbClr val="1E2761"/>
          </a:solidFill>
          <a:ln w="12700">
            <a:solidFill>
              <a:srgbClr val="1E2761"/>
            </a:solidFill>
            <a:prstDash val="solid"/>
          </a:ln>
        </p:spPr>
      </p:sp>
      <p:sp>
        <p:nvSpPr>
          <p:cNvPr id="9" name="Text 6"/>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0" name="Text 7"/>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201168"/>
            <a:ext cx="82296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4 · §3 (EXECUTED)</a:t>
            </a:r>
            <a:endParaRPr lang="en-US" sz="1000" dirty="0"/>
          </a:p>
        </p:txBody>
      </p:sp>
      <p:sp>
        <p:nvSpPr>
          <p:cNvPr id="4" name="Text 2"/>
          <p:cNvSpPr/>
          <p:nvPr/>
        </p:nvSpPr>
        <p:spPr>
          <a:xfrm>
            <a:off x="411480" y="475488"/>
            <a:ext cx="8321040" cy="64008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JUnit + Spring Boot Tests in the Repo</a:t>
            </a:r>
            <a:endParaRPr lang="en-US" sz="2600" dirty="0"/>
          </a:p>
        </p:txBody>
      </p:sp>
      <p:sp>
        <p:nvSpPr>
          <p:cNvPr id="5" name="Shape 3"/>
          <p:cNvSpPr/>
          <p:nvPr/>
        </p:nvSpPr>
        <p:spPr>
          <a:xfrm>
            <a:off x="411480" y="1078992"/>
            <a:ext cx="640080" cy="45720"/>
          </a:xfrm>
          <a:prstGeom prst="rect">
            <a:avLst/>
          </a:prstGeom>
          <a:solidFill>
            <a:srgbClr val="F59E0B"/>
          </a:solidFill>
          <a:ln w="12700">
            <a:solidFill>
              <a:srgbClr val="F59E0B"/>
            </a:solidFill>
            <a:prstDash val="solid"/>
          </a:ln>
        </p:spPr>
      </p:sp>
      <p:sp>
        <p:nvSpPr>
          <p:cNvPr id="6" name="Text 4"/>
          <p:cNvSpPr/>
          <p:nvPr/>
        </p:nvSpPr>
        <p:spPr>
          <a:xfrm>
            <a:off x="548640" y="1280160"/>
            <a:ext cx="8229600" cy="173736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CustomerServiceTest — 9 unit tests for CRUD + search + error paths (Mockito)</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AuthServiceTest — 3 unit tests for login OK / bad password / missing user</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CustomerControllerIT — full @SpringBootTest + MockMvc, JWT-authenticated CRUD</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AuthControllerIT — login OK, wrong password, unknown user</a:t>
            </a:r>
            <a:endParaRPr lang="en-US" sz="1600" dirty="0"/>
          </a:p>
        </p:txBody>
      </p:sp>
      <p:sp>
        <p:nvSpPr>
          <p:cNvPr id="7" name="Shape 5"/>
          <p:cNvSpPr/>
          <p:nvPr/>
        </p:nvSpPr>
        <p:spPr>
          <a:xfrm>
            <a:off x="411480" y="3200400"/>
            <a:ext cx="8321040" cy="1554480"/>
          </a:xfrm>
          <a:prstGeom prst="rect">
            <a:avLst/>
          </a:prstGeom>
          <a:solidFill>
            <a:srgbClr val="EAF1FF"/>
          </a:solidFill>
          <a:ln w="12700">
            <a:solidFill>
              <a:srgbClr val="CADCFC"/>
            </a:solidFill>
            <a:prstDash val="solid"/>
          </a:ln>
        </p:spPr>
      </p:sp>
      <p:sp>
        <p:nvSpPr>
          <p:cNvPr id="8" name="Shape 6"/>
          <p:cNvSpPr/>
          <p:nvPr/>
        </p:nvSpPr>
        <p:spPr>
          <a:xfrm>
            <a:off x="411480" y="3200400"/>
            <a:ext cx="91440" cy="1554480"/>
          </a:xfrm>
          <a:prstGeom prst="rect">
            <a:avLst/>
          </a:prstGeom>
          <a:solidFill>
            <a:srgbClr val="F59E0B"/>
          </a:solidFill>
          <a:ln w="12700">
            <a:solidFill>
              <a:srgbClr val="F59E0B"/>
            </a:solidFill>
            <a:prstDash val="solid"/>
          </a:ln>
        </p:spPr>
      </p:sp>
      <p:sp>
        <p:nvSpPr>
          <p:cNvPr id="9" name="Text 7"/>
          <p:cNvSpPr/>
          <p:nvPr/>
        </p:nvSpPr>
        <p:spPr>
          <a:xfrm>
            <a:off x="640080" y="3246120"/>
            <a:ext cx="795528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SPEAKER NOTES</a:t>
            </a:r>
            <a:endParaRPr lang="en-US" sz="1000" dirty="0"/>
          </a:p>
        </p:txBody>
      </p:sp>
      <p:sp>
        <p:nvSpPr>
          <p:cNvPr id="10" name="Text 8"/>
          <p:cNvSpPr/>
          <p:nvPr/>
        </p:nvSpPr>
        <p:spPr>
          <a:xfrm>
            <a:off x="640080" y="3520440"/>
            <a:ext cx="7955280" cy="11887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To show the test plan is not just paper, I implemented JUnit 5 unit tests and two Spring Boot integration test classes that boot the full ApplicationContext against an in-memory H2 database. The integration tests log in as the seeded admin to obtain a JWT and then drive every controller through MockMvc.</a:t>
            </a:r>
            <a:endParaRPr lang="en-US" sz="1200" dirty="0"/>
          </a:p>
        </p:txBody>
      </p:sp>
      <p:sp>
        <p:nvSpPr>
          <p:cNvPr id="12" name="Shape 9"/>
          <p:cNvSpPr/>
          <p:nvPr/>
        </p:nvSpPr>
        <p:spPr>
          <a:xfrm>
            <a:off x="0" y="4892040"/>
            <a:ext cx="9144000" cy="251460"/>
          </a:xfrm>
          <a:prstGeom prst="rect">
            <a:avLst/>
          </a:prstGeom>
          <a:solidFill>
            <a:srgbClr val="1E2761"/>
          </a:solidFill>
          <a:ln w="12700">
            <a:solidFill>
              <a:srgbClr val="1E2761"/>
            </a:solidFill>
            <a:prstDash val="solid"/>
          </a:ln>
        </p:spPr>
      </p:sp>
      <p:sp>
        <p:nvSpPr>
          <p:cNvPr id="13" name="Text 10"/>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14" name="Text 11"/>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59E0B"/>
          </a:solidFill>
          <a:ln w="12700">
            <a:solidFill>
              <a:srgbClr val="F59E0B"/>
            </a:solidFill>
            <a:prstDash val="solid"/>
          </a:ln>
        </p:spPr>
      </p:sp>
      <p:sp>
        <p:nvSpPr>
          <p:cNvPr id="3" name="Text 1"/>
          <p:cNvSpPr/>
          <p:nvPr/>
        </p:nvSpPr>
        <p:spPr>
          <a:xfrm>
            <a:off x="640080" y="640080"/>
            <a:ext cx="8229600" cy="457200"/>
          </a:xfrm>
          <a:prstGeom prst="rect">
            <a:avLst/>
          </a:prstGeom>
          <a:noFill/>
          <a:ln/>
        </p:spPr>
        <p:txBody>
          <a:bodyPr wrap="square" lIns="0" tIns="0" rIns="0" bIns="0" rtlCol="0" anchor="ctr"/>
          <a:lstStyle/>
          <a:p>
            <a:pPr indent="0" marL="0">
              <a:buNone/>
            </a:pPr>
            <a:r>
              <a:rPr lang="en-US" sz="1400" b="1" spc="600" kern="0" dirty="0">
                <a:solidFill>
                  <a:srgbClr val="F59E0B"/>
                </a:solidFill>
                <a:latin typeface="Calibri" pitchFamily="34" charset="0"/>
                <a:ea typeface="Calibri" pitchFamily="34" charset="-122"/>
                <a:cs typeface="Calibri" pitchFamily="34" charset="-120"/>
              </a:rPr>
              <a:t>THANK YOU</a:t>
            </a:r>
            <a:endParaRPr lang="en-US" sz="1400" dirty="0"/>
          </a:p>
        </p:txBody>
      </p:sp>
      <p:sp>
        <p:nvSpPr>
          <p:cNvPr id="4" name="Text 2"/>
          <p:cNvSpPr/>
          <p:nvPr/>
        </p:nvSpPr>
        <p:spPr>
          <a:xfrm>
            <a:off x="640080" y="1188720"/>
            <a:ext cx="8229600" cy="10972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Demo &amp; Questions</a:t>
            </a:r>
            <a:endParaRPr lang="en-US" sz="4400" dirty="0"/>
          </a:p>
        </p:txBody>
      </p:sp>
      <p:sp>
        <p:nvSpPr>
          <p:cNvPr id="5" name="Text 3"/>
          <p:cNvSpPr/>
          <p:nvPr/>
        </p:nvSpPr>
        <p:spPr>
          <a:xfrm>
            <a:off x="640080" y="2743200"/>
            <a:ext cx="8229600" cy="18288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Live demo: </a:t>
            </a:r>
            <a:pPr indent="0" marL="0">
              <a:buNone/>
            </a:pPr>
            <a:r>
              <a:rPr lang="en-US" sz="1600" dirty="0">
                <a:solidFill>
                  <a:srgbClr val="FFFFFF"/>
                </a:solidFill>
                <a:latin typeface="Calibri" pitchFamily="34" charset="0"/>
                <a:ea typeface="Calibri" pitchFamily="34" charset="-122"/>
                <a:cs typeface="Calibri" pitchFamily="34" charset="-120"/>
              </a:rPr>
              <a:t>login → dashboard → customers → leads → tickets → reports</a:t>
            </a:r>
            <a:endParaRPr lang="en-US" sz="1600" dirty="0"/>
          </a:p>
          <a:p>
            <a:pPr indent="0" marL="0">
              <a:buNone/>
            </a:pPr>
            <a:r>
              <a:rPr lang="en-US" sz="1600" b="1" dirty="0">
                <a:solidFill>
                  <a:srgbClr val="CADCFC"/>
                </a:solidFill>
                <a:latin typeface="Calibri" pitchFamily="34" charset="0"/>
                <a:ea typeface="Calibri" pitchFamily="34" charset="-122"/>
                <a:cs typeface="Calibri" pitchFamily="34" charset="-120"/>
              </a:rPr>
              <a:t>Repo: </a:t>
            </a:r>
            <a:pPr indent="0" marL="0">
              <a:buNone/>
            </a:pPr>
            <a:r>
              <a:rPr lang="en-US" sz="1600" dirty="0">
                <a:solidFill>
                  <a:srgbClr val="FFFFFF"/>
                </a:solidFill>
                <a:latin typeface="Calibri" pitchFamily="34" charset="0"/>
                <a:ea typeface="Calibri" pitchFamily="34" charset="-122"/>
                <a:cs typeface="Calibri" pitchFamily="34" charset="-120"/>
              </a:rPr>
              <a:t>github.com/&lt;your-username&gt;/vision-tech-crm</a:t>
            </a:r>
            <a:endParaRPr lang="en-US" sz="1600" dirty="0"/>
          </a:p>
          <a:p>
            <a:pPr indent="0" marL="0">
              <a:buNone/>
            </a:pPr>
            <a:r>
              <a:rPr lang="en-US" sz="1600" b="1" dirty="0">
                <a:solidFill>
                  <a:srgbClr val="CADCFC"/>
                </a:solidFill>
                <a:latin typeface="Calibri" pitchFamily="34" charset="0"/>
                <a:ea typeface="Calibri" pitchFamily="34" charset="-122"/>
                <a:cs typeface="Calibri" pitchFamily="34" charset="-120"/>
              </a:rPr>
              <a:t>Run: </a:t>
            </a:r>
            <a:pPr indent="0" marL="0">
              <a:buNone/>
            </a:pPr>
            <a:r>
              <a:rPr lang="en-US" sz="1600" i="1" dirty="0">
                <a:solidFill>
                  <a:srgbClr val="FFFFFF"/>
                </a:solidFill>
                <a:latin typeface="Calibri" pitchFamily="34" charset="0"/>
                <a:ea typeface="Calibri" pitchFamily="34" charset="-122"/>
                <a:cs typeface="Calibri" pitchFamily="34" charset="-120"/>
              </a:rPr>
              <a:t>docker compose up --build</a:t>
            </a:r>
            <a:endParaRPr lang="en-US" sz="1600" dirty="0"/>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274320" y="4928616"/>
            <a:ext cx="6400800" cy="1828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Vision Technologies CRM  ·  </a:t>
            </a:r>
            <a:pPr indent="0" marL="0">
              <a:buNone/>
            </a:pPr>
            <a:r>
              <a:rPr lang="en-US" sz="900" b="1" dirty="0">
                <a:solidFill>
                  <a:srgbClr val="FFFFFF"/>
                </a:solidFill>
                <a:latin typeface="Calibri" pitchFamily="34" charset="0"/>
                <a:ea typeface="Calibri" pitchFamily="34" charset="-122"/>
                <a:cs typeface="Calibri" pitchFamily="34" charset="-120"/>
              </a:rPr>
              <a:t>Live Defense Deck</a:t>
            </a:r>
            <a:endParaRPr lang="en-US" sz="900" dirty="0"/>
          </a:p>
        </p:txBody>
      </p:sp>
      <p:sp>
        <p:nvSpPr>
          <p:cNvPr id="8" name="Text 6"/>
          <p:cNvSpPr/>
          <p:nvPr/>
        </p:nvSpPr>
        <p:spPr>
          <a:xfrm>
            <a:off x="7315200" y="4928616"/>
            <a:ext cx="1554480" cy="18288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 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AUCA · SENG 8240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Technologies CRM — Live Defense</dc:title>
  <dc:subject>PptxGenJS Presentation</dc:subject>
  <dc:creator>MUNEZERO IRAKOZE Luccin</dc:creator>
  <cp:lastModifiedBy>MUNEZERO IRAKOZE Luccin</cp:lastModifiedBy>
  <cp:revision>1</cp:revision>
  <dcterms:created xsi:type="dcterms:W3CDTF">2026-05-14T04:03:54Z</dcterms:created>
  <dcterms:modified xsi:type="dcterms:W3CDTF">2026-05-14T04:03:54Z</dcterms:modified>
</cp:coreProperties>
</file>